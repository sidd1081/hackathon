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3C5FD"/>
                </a:solidFill>
                <a:latin typeface="Calibri"/>
              </a:rPr>
              <a:t>TEAM –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AI-Incident Resolver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AI-Powered Incident Root Cause Analysis &amp; Resolution Assistant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CBD5E1"/>
                </a:solidFill>
                <a:latin typeface="Calibri"/>
              </a:rPr>
              <a:t>Evidence-Grounded Incident Retrieval and RCA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Team Members: Siddhant Gupta · Srajan Paliwal · Vaibhav Agrawal · Vaibhav Kumar · Vartika Yadav · Vikash Jadaun · Vinayak Rastogi · Vivek Dubey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4748B"/>
                </a:solidFill>
                <a:latin typeface="Calibri"/>
              </a:rPr>
              <a:t>Support engineers often need to investigate newly reported incidents by searching historical tickets.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•  Large volume of historical tickets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•  Manual searching is time-consuming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•  Similar incidents may be difficult to identify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•  Keyword search fails on vocabulary gaps — e.g. "NPE" vs "NullPointerException", "consumer stuck" vs "rebalance loop"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•  Root causes and resolutions are scattered across tickets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Calibri"/>
              </a:rPr>
              <a:t>•  LLMs can hallucinate unsupported root causes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7486" y="4846320"/>
            <a:ext cx="1874519" cy="731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New Incident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72005" y="5212080"/>
            <a:ext cx="25603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28037" y="4846320"/>
            <a:ext cx="1874519" cy="731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Search Historical
Tickets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02556" y="5212080"/>
            <a:ext cx="25603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58588" y="4846320"/>
            <a:ext cx="1874519" cy="731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Identify Similar
Cases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3107" y="5212080"/>
            <a:ext cx="25603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89139" y="4846320"/>
            <a:ext cx="1874519" cy="731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Analyze RCA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63658" y="5212080"/>
            <a:ext cx="25603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19690" y="4846320"/>
            <a:ext cx="1874519" cy="731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00" b="1">
                <a:solidFill>
                  <a:srgbClr val="0F172A"/>
                </a:solidFill>
                <a:latin typeface="Calibri"/>
              </a:rPr>
              <a:t>Resolve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108192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730A3"/>
                </a:solidFill>
                <a:latin typeface="Calibri"/>
              </a:rPr>
              <a:t>Goal: Reduce investigation time while keeping RCA grounded in historical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Features &amp;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65760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350">
                <a:solidFill>
                  <a:srgbClr val="334155"/>
                </a:solidFill>
                <a:latin typeface="Calibri"/>
              </a:rPr>
              <a:t>•  Historical CSV dataset upload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334155"/>
                </a:solidFill>
                <a:latin typeface="Calibri"/>
              </a:rPr>
              <a:t>•  New incident description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334155"/>
                </a:solidFill>
                <a:latin typeface="Calibri"/>
              </a:rPr>
              <a:t>•  Top 5 similar incidents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334155"/>
                </a:solidFill>
                <a:latin typeface="Calibri"/>
              </a:rPr>
              <a:t>•  Similarity scores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334155"/>
                </a:solidFill>
                <a:latin typeface="Calibri"/>
              </a:rPr>
              <a:t>•  Root cause &amp; resolution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334155"/>
                </a:solidFill>
                <a:latin typeface="Calibri"/>
              </a:rPr>
              <a:t>•  Concise AI-generated RCA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334155"/>
                </a:solidFill>
                <a:latin typeface="Calibri"/>
              </a:rPr>
              <a:t>•  Evidence-based fallback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9E0B"/>
                </a:solidFill>
                <a:latin typeface="Calibri"/>
              </a:rPr>
              <a:t>No sufficient evidence → "Not explicitly documented."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480560" y="1234440"/>
          <a:ext cx="7132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</a:tblGrid>
              <a:tr h="3962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6200" marR="76200" marT="50800" marB="508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6200" marR="76200" marT="50800" marB="50800" anchor="ctr">
                    <a:solidFill>
                      <a:srgbClr val="4F46E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Python, FastAPI, Uvicorn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Sentence Transformers (MiniLM-L6-v2), FAISS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AI / RAG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LangChain, LangGraph, Groq (gpt-oss-120b)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React, JavaScript, Tailwind CSS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4155"/>
                          </a:solidFill>
                          <a:latin typeface="Calibri"/>
                        </a:rPr>
                        <a:t>Pandas, Apache Jira historical incidents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Live 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4160520"/>
            <a:ext cx="7132320" cy="2331720"/>
          </a:xfrm>
          <a:prstGeom prst="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64748B"/>
                </a:solidFill>
              </a:rPr>
              <a:t>[ Insert screenshot here: Root Cause Analysis panel +
Similar Historical Incidents panel from the live app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3657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Similarity meter per match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Cited-ticket badge on AI answer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Confidence: High / Medium / 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How raw Jira data becomes a searchable, answer-free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Ingestion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3749039" cy="3840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RAW JIRA DATA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59" y="1984248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77240" y="2112264"/>
            <a:ext cx="3749039" cy="3840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VALIDATE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59" y="2496312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2624328"/>
            <a:ext cx="3749039" cy="3840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CLEAN &amp; NORMALIZE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59" y="3008376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7240" y="3136392"/>
            <a:ext cx="3749039" cy="3840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EXTRACT RCA / RESOLUTION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59" y="3520440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3648456"/>
            <a:ext cx="3749039" cy="530352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BUILD SEARCH TEXT</a:t>
            </a:r>
          </a:p>
          <a:p>
            <a:pPr algn="ctr"/>
            <a:r>
              <a:rPr sz="1000" b="0" i="1">
                <a:solidFill>
                  <a:srgbClr val="0F172A"/>
                </a:solidFill>
                <a:latin typeface="Calibri"/>
              </a:rPr>
              <a:t>(project + summary + description)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59" y="4178808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" y="4306824"/>
            <a:ext cx="3749039" cy="3840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MINILM EMBEDDINGS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51759" y="4690872"/>
            <a:ext cx="0" cy="128016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4818888"/>
            <a:ext cx="3749039" cy="384048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150" b="1" i="0">
                <a:solidFill>
                  <a:srgbClr val="0F172A"/>
                </a:solidFill>
                <a:latin typeface="Calibri"/>
              </a:rPr>
              <a:t>FAISS 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12664"/>
            <a:ext cx="4206240" cy="502920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312664"/>
            <a:ext cx="64008" cy="5029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312664"/>
            <a:ext cx="3931920" cy="50292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r>
              <a:rPr sz="1300" b="1">
                <a:solidFill>
                  <a:srgbClr val="E11D48"/>
                </a:solidFill>
                <a:latin typeface="Calibri"/>
              </a:rPr>
              <a:t>🔒  RCA &amp; Resolution are NOT embedded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1234440"/>
            <a:ext cx="6537960" cy="2286000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/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3730A3"/>
                </a:solidFill>
                <a:latin typeface="Calibri"/>
              </a:rPr>
              <a:t>Dataset: 3,000 curated incidents across 8 Apache projects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Projects: Cassandra, Flink, Hadoop, HBase, Kafka, Solr, Spark,
ZooKeeper (375 records each)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Source: public Zenodo dataset (Apache Jira issues)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334155"/>
                </a:solidFill>
                <a:latin typeface="Calibri"/>
              </a:rPr>
              <a:t>14 fields incl. ticket_id, project, summary, description, root_cause,
resolution_status, resolution_notes, search_text</a:t>
            </a: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3730A3"/>
                </a:solidFill>
                <a:latin typeface="Calibri"/>
              </a:rPr>
              <a:t>Note: resolution_status (workflow state) is never treated as
evidence — only resolution_notes 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3749040"/>
            <a:ext cx="6537960" cy="1554480"/>
          </a:xfrm>
          <a:prstGeom prst="rect">
            <a:avLst/>
          </a:prstGeom>
          <a:solidFill>
            <a:srgbClr val="F1F5F9"/>
          </a:solidFill>
          <a:ln w="952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3730A3"/>
                </a:solidFill>
                <a:latin typeface="Calibri"/>
              </a:rPr>
              <a:t>Storage: No traditional database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File-based FAISS index — 3,000 × 384-dim vectors (~4.6 MB)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metadata.pkl — per-vector metadata aligned by row (~23 MB)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Rebuildable from the raw CSV in seconds on upload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5486400"/>
            <a:ext cx="6537960" cy="777240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4920" y="5486400"/>
            <a:ext cx="64008" cy="7772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5486400"/>
            <a:ext cx="6263640" cy="777240"/>
          </a:xfrm>
          <a:prstGeom prst="rect">
            <a:avLst/>
          </a:prstGeom>
          <a:noFill/>
        </p:spPr>
        <p:txBody>
          <a:bodyPr wrap="square" anchor="ctr" lIns="0">
            <a:spAutoFit/>
          </a:bodyPr>
          <a:lstStyle/>
          <a:p>
            <a:r>
              <a:rPr sz="1250" b="1">
                <a:solidFill>
                  <a:srgbClr val="3730A3"/>
                </a:solidFill>
                <a:latin typeface="Calibri"/>
              </a:rPr>
              <a:t>A high similarity score means "similar problem" — never a similar answer.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AI-POWERED RCA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Retrieval, Reranking &amp; 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Stage 1 — Semantic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all-MiniLM-L6-v2 → 384-dim vectors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FAISS retrieves Top 10 candidates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Captures meaning beyond exact keywords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Stage 2 — Reranking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51206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70% Semantic Similarity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15% Technical-Term Overlap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15% Keyword Overlap</a:t>
            </a:r>
          </a:p>
          <a:p>
            <a:pPr>
              <a:spcAft>
                <a:spcPts val="500"/>
              </a:spcAft>
            </a:pPr>
            <a:r>
              <a:rPr sz="1200">
                <a:solidFill>
                  <a:srgbClr val="334155"/>
                </a:solidFill>
                <a:latin typeface="Calibri"/>
              </a:rPr>
              <a:t>•  → Final Top 5 Similar Incidents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343400"/>
          <a:ext cx="51206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</a:tblGrid>
              <a:tr h="350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76200" marR="76200" marT="50800" marB="508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76200" marR="76200" marT="50800" marB="508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6200" marR="76200" marT="50800" marB="50800" anchor="ctr">
                    <a:solidFill>
                      <a:srgbClr val="4F46E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MiniLM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Semantic embeddings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FAISS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Similar incident search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Reranking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Weighted scoring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Improve technical relevance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GenAI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Groq / GPT-OSS 120B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RCA synthesis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Orchestration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Evidence gating, citation validation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35040" y="123444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LangGraph Workflow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600200"/>
            <a:ext cx="96012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0F172A"/>
                </a:solidFill>
                <a:latin typeface="Calibri"/>
              </a:rPr>
              <a:t>START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95160" y="1851660"/>
            <a:ext cx="11887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14032" y="1600200"/>
            <a:ext cx="96012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0F172A"/>
                </a:solidFill>
                <a:latin typeface="Calibri"/>
              </a:rPr>
              <a:t>Analyze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74152" y="1851660"/>
            <a:ext cx="11887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93024" y="1600200"/>
            <a:ext cx="96012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0F172A"/>
                </a:solidFill>
                <a:latin typeface="Calibri"/>
              </a:rPr>
              <a:t>Retrieve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53144" y="1851660"/>
            <a:ext cx="11887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72016" y="1600200"/>
            <a:ext cx="96012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0F172A"/>
                </a:solidFill>
                <a:latin typeface="Calibri"/>
              </a:rPr>
              <a:t>Rerank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32136" y="1851660"/>
            <a:ext cx="118872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351008" y="1600200"/>
            <a:ext cx="96012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950" b="1">
                <a:solidFill>
                  <a:srgbClr val="0F172A"/>
                </a:solidFill>
                <a:latin typeface="Calibri"/>
              </a:rPr>
              <a:t>Evidence
Check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377440"/>
            <a:ext cx="2606040" cy="45720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Generate RCA → Validate → END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377440"/>
            <a:ext cx="2697480" cy="45720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000" b="1">
                <a:solidFill>
                  <a:srgbClr val="0F172A"/>
                </a:solidFill>
                <a:latin typeface="Calibri"/>
              </a:rPr>
              <a:t>"Not explicitly documented" → END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315200" y="2103120"/>
            <a:ext cx="3515868" cy="274320"/>
          </a:xfrm>
          <a:prstGeom prst="bentConnector3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241280" y="2103120"/>
            <a:ext cx="589788" cy="274320"/>
          </a:xfrm>
          <a:prstGeom prst="bentConnector3">
            <a:avLst/>
          </a:prstGeom>
          <a:ln w="1905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35040" y="21488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10B981"/>
                </a:solidFill>
                <a:latin typeface="Calibri"/>
              </a:rPr>
              <a:t>sufficient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48840"/>
            <a:ext cx="2286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59E0B"/>
                </a:solidFill>
                <a:latin typeface="Calibri"/>
              </a:rPr>
              <a:t>insufficient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92608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F172A"/>
                </a:solidFill>
                <a:latin typeface="Calibri"/>
              </a:rPr>
              <a:t>Results — Measured on the Real Pipeline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035040" y="3291840"/>
          <a:ext cx="55778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28085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6200" marR="76200" marT="50800" marB="50800" anchor="ctr"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76200" marR="76200" marT="50800" marB="50800" anchor="ctr">
                    <a:solidFill>
                      <a:srgbClr val="4F46E5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0.875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0.875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Hallucination rate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Evidence-support rate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Abstention correctness (out-of-domain)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Root-cause correctness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Calibri"/>
                        </a:rPr>
                        <a:t>0.67</a:t>
                      </a:r>
                    </a:p>
                  </a:txBody>
                  <a:tcPr marL="76200" marR="76200" marT="50800" marB="50800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035040" y="5394960"/>
            <a:ext cx="5577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Calibri"/>
              </a:rPr>
              <a:t>Evaluated end-to-end across all 8 projects plus 1 out-of-domain control query, through the real pipeline: embeddings → FAISS → rerank → LangGraph → Groq.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46E5"/>
                </a:solidFill>
                <a:latin typeface="Calibri"/>
              </a:rPr>
              <a:t>DIFFERENTIATION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F172A"/>
                </a:solidFill>
                <a:latin typeface="Calibri"/>
              </a:rPr>
              <a:t>What Makes This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486400" cy="2926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No semantic leakage — root_cause and resolution are excluded from the embedded search text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Workflow status ≠ resolution — "Fixed/Closed" is never treated as a technical fix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Explainable reranking — fixed, visible weights, not a black box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Two deterministic anti-hallucination gates — evidence-alignment before generation, citation + mechanism-match validation after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334155"/>
                </a:solidFill>
                <a:latin typeface="Calibri"/>
              </a:rPr>
              <a:t>•  Every claim cited to a real ticket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Calibri"/>
              </a:rPr>
              <a:t>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530352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Hybrid retrieval using BM25 + vector search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Managed vector database such as Qdrant / pgvector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Engineer feedback loop for improving ranking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Real-time integration with monitoring/alert systems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Automated regression evaluation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34155"/>
                </a:solidFill>
                <a:latin typeface="Calibri"/>
              </a:rPr>
              <a:t>•  Larger incident knowledge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11064240" cy="27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172A"/>
                </a:solidFill>
                <a:latin typeface="Calibri"/>
              </a:rPr>
              <a:t>Related Research: Historical Incident Retrieval &amp; RAG-Based RCA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Saha &amp; Hoi (2022), Mining Root Cause Knowledge from Cloud Service Incident Investigations for AIOps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Uses knowledge from historical incident investigations for automated RCA.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08076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Xu et al. (2024), RAG with Knowledge Graphs for Customer Service QA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Calibri"/>
              </a:rPr>
              <a:t>Retrieves relevant information from historical customer-service issues and uses it to generate answers.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